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8" d="100"/>
          <a:sy n="28" d="100"/>
        </p:scale>
        <p:origin x="12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03720" y="0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17436" y="384048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31152" y="768096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4868" y="1152144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58583" y="1536192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72300" y="1920240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86016" y="2304288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99732" y="2688336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13448" y="3072384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27164" y="3456432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840480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54596" y="4224528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68312" y="4608576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2028" y="4992624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95744" y="5376672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09459" y="5760720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23176" y="6144768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6892" y="6528816"/>
            <a:ext cx="201168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766560"/>
            <a:ext cx="12188952" cy="5943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7848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Sara Arkoub  |  UMBB M1 Genie Logiciel  |  2025-2026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5FF"/>
                </a:solidFill>
                <a:latin typeface="Segoe UI"/>
              </a:rPr>
              <a:t>PROJET SMA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4360"/>
            <a:ext cx="1371600" cy="3657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713232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Segoe UI"/>
              </a:rPr>
              <a:t>SRUU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2128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0"/>
                </a:solidFill>
                <a:latin typeface="Segoe UI"/>
              </a:rPr>
              <a:t>Systeme de Reponse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334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5FF"/>
                </a:solidFill>
                <a:latin typeface="Segoe UI"/>
              </a:rPr>
              <a:t>aux Urgences Urbaines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154680"/>
            <a:ext cx="5029200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2735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0"/>
                </a:solidFill>
                <a:latin typeface="Segoe UI"/>
              </a:rPr>
              <a:t>Urban Emergency Response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6393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88AA"/>
                </a:solidFill>
                <a:latin typeface="Segoe UI"/>
              </a:rPr>
              <a:t>Multi-Agent System with JADE Framework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51960"/>
            <a:ext cx="1920240" cy="6858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251960"/>
            <a:ext cx="1920240" cy="3657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360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5FF"/>
                </a:solidFill>
                <a:latin typeface="Segoe UI"/>
              </a:rPr>
              <a:t>AGENTS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251960"/>
            <a:ext cx="1920240" cy="6858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0" y="4251960"/>
            <a:ext cx="1920240" cy="3657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80360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JADE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6360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5C00"/>
                </a:solidFill>
                <a:latin typeface="Segoe UI"/>
              </a:rPr>
              <a:t>FRAMEWORK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4251960"/>
            <a:ext cx="1920240" cy="6858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937759" y="4251960"/>
            <a:ext cx="192024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4920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FIPA-ACL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6360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FA3"/>
                </a:solidFill>
                <a:latin typeface="Segoe UI"/>
              </a:rPr>
              <a:t>PROTOCOL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212080"/>
            <a:ext cx="1920240" cy="411480"/>
          </a:xfrm>
          <a:prstGeom prst="rect">
            <a:avLst/>
          </a:prstGeom>
          <a:solidFill>
            <a:srgbClr val="0F1E33"/>
          </a:solidFill>
          <a:ln w="15240">
            <a:solidFill>
              <a:srgbClr val="FF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2760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00"/>
                </a:solidFill>
                <a:latin typeface="Segoe UI"/>
              </a:rPr>
              <a:t>FIRE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5212080"/>
            <a:ext cx="1920240" cy="411480"/>
          </a:xfrm>
          <a:prstGeom prst="rect">
            <a:avLst/>
          </a:prstGeom>
          <a:solidFill>
            <a:srgbClr val="0F1E33"/>
          </a:solidFill>
          <a:ln w="1524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52760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A3"/>
                </a:solidFill>
                <a:latin typeface="Segoe UI"/>
              </a:rPr>
              <a:t>MEDICAL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79" y="5212080"/>
            <a:ext cx="1920240" cy="411480"/>
          </a:xfrm>
          <a:prstGeom prst="rect">
            <a:avLst/>
          </a:prstGeom>
          <a:solidFill>
            <a:srgbClr val="0F1E33"/>
          </a:solidFill>
          <a:ln w="15240">
            <a:solidFill>
              <a:srgbClr val="AA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92040" y="52760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00FF"/>
                </a:solidFill>
                <a:latin typeface="Segoe UI"/>
              </a:rPr>
              <a:t>BIOHAZARD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6088AA"/>
                </a:solidFill>
                <a:latin typeface="Segoe UI"/>
              </a:rPr>
              <a:t>SYSTEME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1737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5FF"/>
                </a:solidFill>
                <a:latin typeface="Segoe UI"/>
              </a:rPr>
              <a:t>MULTI-AGENT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2743200"/>
            <a:ext cx="54864" cy="5029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26679" y="279806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Coordination temps reel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79" y="3493008"/>
            <a:ext cx="54864" cy="5029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26679" y="354787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Protocole Contract Net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4242816"/>
            <a:ext cx="54864" cy="5029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26679" y="429767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Ontologie FIPA-ACL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4992624"/>
            <a:ext cx="54864" cy="5029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26679" y="50474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9 agents autonomes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5FF"/>
                </a:solidFill>
                <a:latin typeface="Segoe U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Plan de la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200400" cy="3657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474720" cy="18288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3474720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F5FF"/>
                </a:solidFill>
                <a:latin typeface="Segoe U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19456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304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15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Contexte et objectifs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474720" cy="18288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3474720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417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5C00"/>
                </a:solidFill>
                <a:latin typeface="Segoe U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219456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2304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Problematique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15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Defis de la gestion des urgences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325880"/>
            <a:ext cx="3474720" cy="18288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1325880"/>
            <a:ext cx="347472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1417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FFA3"/>
                </a:solidFill>
                <a:latin typeface="Segoe U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11312" y="219456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2304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Solution Proposee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715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Architecture multi-agent SRUU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3474720" cy="18288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520440"/>
            <a:ext cx="3474720" cy="457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3611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A00FF"/>
                </a:solidFill>
                <a:latin typeface="Segoe UI"/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38912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44988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Les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9 types d'agents autonomes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520440"/>
            <a:ext cx="3474720" cy="18288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51960" y="3520440"/>
            <a:ext cx="3474720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6552" y="3611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F5FF"/>
                </a:solidFill>
                <a:latin typeface="Segoe UI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16552" y="438912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16552" y="44988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Communication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FIPA-ACL, Contract Net, Ontologie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520440"/>
            <a:ext cx="3474720" cy="18288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46720" y="3520440"/>
            <a:ext cx="3474720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2" y="3611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5C00"/>
                </a:solidFill>
                <a:latin typeface="Segoe UI"/>
              </a:rPr>
              <a:t>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11312" y="438912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11312" y="44988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Scenarios &amp; Resultats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Simulation et metriques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6172200"/>
            <a:ext cx="3474720" cy="655474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51960" y="5577840"/>
            <a:ext cx="347472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16551" y="5669279"/>
            <a:ext cx="2751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FFA3"/>
                </a:solidFill>
                <a:latin typeface="Segoe UI"/>
              </a:rPr>
              <a:t>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6552" y="6446520"/>
            <a:ext cx="310896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02964" y="58613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49" name="TextBox 48"/>
          <p:cNvSpPr txBox="1"/>
          <p:nvPr/>
        </p:nvSpPr>
        <p:spPr>
          <a:xfrm rot="10800000" flipV="1">
            <a:off x="4416551" y="6454217"/>
            <a:ext cx="320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6088AA"/>
                </a:solidFill>
                <a:latin typeface="Segoe UI"/>
              </a:rPr>
              <a:t>Bilan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"/>
            <a:ext cx="3840480" cy="6766560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0" y="45720"/>
            <a:ext cx="36576" cy="676656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82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3555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A3"/>
                </a:solidFill>
                <a:latin typeface="Segoe UI"/>
              </a:rPr>
              <a:t>INTRODUCTION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320040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Contexte
du Projet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06040"/>
            <a:ext cx="3246120" cy="80467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606040"/>
            <a:ext cx="45720" cy="8046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609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FFA3"/>
                </a:solidFill>
                <a:latin typeface="Segoe U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Agents autonomes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11880"/>
            <a:ext cx="3246120" cy="80467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611880"/>
            <a:ext cx="45720" cy="8046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66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FFA3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87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Types d'incidents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17720"/>
            <a:ext cx="3246120" cy="80467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617720"/>
            <a:ext cx="45720" cy="8046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725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FFA3"/>
                </a:solidFill>
                <a:latin typeface="Segoe UI"/>
              </a:rPr>
              <a:t>JADE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93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Java Framework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23560"/>
            <a:ext cx="3246120" cy="80467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5623560"/>
            <a:ext cx="45720" cy="8046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6784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FFA3"/>
                </a:solidFill>
                <a:latin typeface="Segoe UI"/>
              </a:rPr>
              <a:t>100x100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990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Grille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Qu'est-ce que le SRUU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713232"/>
            <a:ext cx="777240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8686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0"/>
                </a:solidFill>
                <a:latin typeface="Segoe UI"/>
              </a:rPr>
              <a:t>Le Systeme de Reponse aux Urgences Urbaines (SRUU) est une simulation intelligente de coordination d'urgences urbaines basee sur les Systemes Multi-Agents (SMA). Developpe avec JADE (Java Agent Development Framework), il orchestre 9 agents autonomes qui collaborent via le protocole Contract Net pour detecter, evaluer et resoudre des incidents en temps reel.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697480"/>
            <a:ext cx="7772400" cy="84124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0" y="2697480"/>
            <a:ext cx="54864" cy="841248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400" y="275234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5FF"/>
                </a:solidFill>
                <a:latin typeface="Segoe UI"/>
              </a:rPr>
              <a:t>Contexte Urbain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10896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Les villes modernes font face a des crises complexes necessitant une coordination rapide entre services heterogenes.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703320"/>
            <a:ext cx="7772400" cy="84124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14800" y="3703320"/>
            <a:ext cx="54864" cy="841248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375818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00"/>
                </a:solidFill>
                <a:latin typeface="Segoe UI"/>
              </a:rPr>
              <a:t>Approche SMA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11480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Les SMA offrent une solution decentralisee, reactive et robuste via des agents autonomes specialises.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4709160"/>
            <a:ext cx="7772400" cy="84124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14800" y="4709160"/>
            <a:ext cx="54864" cy="84124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476402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Segoe UI"/>
              </a:rPr>
              <a:t>Objectif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512064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Simuler une reponse coordonnee et optimale via Contract Net avec une fonction d'utilite multi-criteres.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5715000"/>
            <a:ext cx="7772400" cy="84124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0" y="5715000"/>
            <a:ext cx="54864" cy="841248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43400" y="576986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00FF"/>
                </a:solidFill>
                <a:latin typeface="Segoe UI"/>
              </a:rPr>
              <a:t>Technologies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612648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JADE 4.5 + Java 11 + Maven + FIPA-ACL + Ontologie XML + Rapports JSON automatiques.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00"/>
                </a:solidFill>
                <a:latin typeface="Segoe UI"/>
              </a:rPr>
              <a:t>02  PROBLEMATIQUE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Defis de la Gestion des Urgences Urbaines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11247120" cy="84124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15568"/>
            <a:ext cx="11247120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Comment coordonner efficacement des ressources heterogenes (ambulances, pompiers, police) en temps reel, face a des incidents multiples et simultanees dans un environnement urbain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3657600" cy="19202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365760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30428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555"/>
                </a:solidFill>
                <a:latin typeface="Segoe U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00"/>
                </a:solidFill>
                <a:latin typeface="Segoe UI"/>
              </a:rPr>
              <a:t>Temps Reel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07208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Decisions en &lt; 500 ms pour eviter la degradation — chaque seconde compte dans une urgence urbaine.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12848"/>
            <a:ext cx="3657600" cy="19202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212848"/>
            <a:ext cx="365760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30428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555"/>
                </a:solidFill>
                <a:latin typeface="Segoe U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77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5FF"/>
                </a:solidFill>
                <a:latin typeface="Segoe UI"/>
              </a:rPr>
              <a:t>Coordination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807208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Unites heterogenes collaborent sans conflit — partage de ressources et evitement de doublons.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212848"/>
            <a:ext cx="3657600" cy="19202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2212848"/>
            <a:ext cx="36576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59" y="230428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555"/>
                </a:solidFill>
                <a:latin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377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  <a:latin typeface="Segoe UI"/>
              </a:rPr>
              <a:t>Localisation Optimale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19" y="2807208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19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Assigner l'unite la plus proche ET la plus adaptee parmi N candidats distribues.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07408"/>
            <a:ext cx="3657600" cy="19202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407408"/>
            <a:ext cx="365760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0" y="449884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555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00"/>
                </a:solidFill>
                <a:latin typeface="Segoe UI"/>
              </a:rPr>
              <a:t>Pannes &amp; Ressources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01768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Gestion des defaillances : camion a court d'eau → reassignation automatique immediate.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407408"/>
            <a:ext cx="3657600" cy="19202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4407408"/>
            <a:ext cx="365760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449884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555"/>
                </a:solidFill>
                <a:latin typeface="Segoe U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5FF"/>
                </a:solidFill>
                <a:latin typeface="Segoe UI"/>
              </a:rPr>
              <a:t>Communication Fiable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001768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Echange de messages structures (FIPA-ACL) sans deadlock ni perte de donnees.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4407408"/>
            <a:ext cx="3657600" cy="19202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21040" y="4407408"/>
            <a:ext cx="36576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881359" y="4498848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3555"/>
                </a:solidFill>
                <a:latin typeface="Segoe U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4572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  <a:latin typeface="Segoe UI"/>
              </a:rPr>
              <a:t>Decision Optimale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19" y="5001768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19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Selectionner la meilleure unite via une fonction d'utilite multi-criteres mathematique.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5FF"/>
                </a:solidFill>
                <a:latin typeface="Segoe UI"/>
              </a:rPr>
              <a:t>03  SOLUTION PROPOSEE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Architecture du Systeme SRUU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486400" cy="3657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247120" cy="109728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124712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1737360" cy="32918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1673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E1A"/>
                </a:solidFill>
                <a:latin typeface="Segoe UI"/>
              </a:rPr>
              <a:t>PERCEPTION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2801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Sensor Agents x3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691640"/>
            <a:ext cx="8961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1783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Segoe UI"/>
              </a:rPr>
              <a:t>Detectent les incidents sur grille 100x100 avec probabilite 30% par cycle de 5s.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45720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2441448"/>
            <a:ext cx="164592" cy="3657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1247120" cy="109728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1124712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2624328"/>
            <a:ext cx="1737360" cy="329184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64261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E1A"/>
                </a:solidFill>
                <a:latin typeface="Segoe UI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60604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Dispatcher Agent 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017520"/>
            <a:ext cx="8961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31089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Segoe UI"/>
              </a:rPr>
              <a:t>Evalue les propositions via fonction d'utilite U(unit) et assigne via Contract Net.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584448"/>
            <a:ext cx="45720" cy="25603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" y="3767328"/>
            <a:ext cx="164592" cy="3657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11247120" cy="109728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840480"/>
            <a:ext cx="1124712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950208"/>
            <a:ext cx="1737360" cy="329184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96849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E1A"/>
                </a:solidFill>
                <a:latin typeface="Segoe UI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931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Ambulance x2  |  FireTruck x2  |  Police x2  |  Biohazard 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4343400"/>
            <a:ext cx="8961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68880" y="44348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Segoe UI"/>
              </a:rPr>
              <a:t>Repondent aux incidents, gerent leurs ressources, signalent les pannes (ABORT).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910327"/>
            <a:ext cx="45720" cy="25603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13232" y="5093207"/>
            <a:ext cx="164592" cy="36576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166359"/>
            <a:ext cx="11247120" cy="109728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166359"/>
            <a:ext cx="11247120" cy="5029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5276088"/>
            <a:ext cx="1737360" cy="329184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5294375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E1A"/>
                </a:solidFill>
                <a:latin typeface="Segoe UI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25779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MedicalCoordinator  |  TrafficController  |  Logger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5669279"/>
            <a:ext cx="8961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68880" y="5760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Segoe UI"/>
              </a:rPr>
              <a:t>Gestion hospitaliere, optimisation routes d'urgence, audit JSON automatique.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528816"/>
            <a:ext cx="12188952" cy="27432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5471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5FF"/>
                </a:solidFill>
                <a:latin typeface="Segoe UI"/>
              </a:rPr>
              <a:t>Java 11+  |  JADE 4.5.0  |  Maven 3.6+  |  FIPA-ACL  |  XML Ontology  |  JSON Reports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1143000"/>
            <a:ext cx="2834640" cy="5212080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61120" y="1143000"/>
            <a:ext cx="2834640" cy="32004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98280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88AA"/>
                </a:solidFill>
                <a:latin typeface="Segoe UI"/>
              </a:rPr>
              <a:t>STACK TECHNIQUE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691640"/>
            <a:ext cx="41148" cy="34747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172821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JADE 4.5.0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2221992"/>
            <a:ext cx="41148" cy="3474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35440" y="225856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Java 11+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2752344"/>
            <a:ext cx="41148" cy="34747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27889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Maven Build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3282696"/>
            <a:ext cx="41148" cy="34747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35440" y="33192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FIPA-ACL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3813048"/>
            <a:ext cx="41148" cy="34747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35440" y="384962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Contract Net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4343400"/>
            <a:ext cx="41148" cy="3474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35440" y="437997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FSM Behaviours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4873752"/>
            <a:ext cx="41148" cy="34747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5440" y="49103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XML Ontology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98280" y="5404104"/>
            <a:ext cx="41148" cy="34747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35440" y="54406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JSON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A3"/>
                </a:solidFill>
                <a:latin typeface="Segoe UI"/>
              </a:rPr>
              <a:t>04  LES AGENTS DU SYSTEME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9 Types d'Agents Autonomes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65760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316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DISPATCHER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98448"/>
            <a:ext cx="658368" cy="32004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2984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7373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8653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Coordinateur central. Protocole Contract Net. Selection via U(unit).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070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207008"/>
            <a:ext cx="36576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1316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SENSOR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298448"/>
            <a:ext cx="658368" cy="3200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12984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17373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18653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Detection incidents. Grille 100x100. Probabilite 30% / 5s 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070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207008"/>
            <a:ext cx="36576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1316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AMBULANCE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64240" y="1298448"/>
            <a:ext cx="658368" cy="3200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064240" y="12984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17373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18653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MEDICAL. Vitesse 2u/tick. Coordination hospitaliere auto.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58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035808"/>
            <a:ext cx="365760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145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FIRE TRUCK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127248"/>
            <a:ext cx="658368" cy="32004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0" y="31272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35661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6941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FIRE + BIOHAZARD. Vitesse 3u/tick. Reservoir 100L eau.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0358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97680" y="3035808"/>
            <a:ext cx="365760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62272" y="3145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POLICE UNIT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127248"/>
            <a:ext cx="658368" cy="32004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0" y="31272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2272" y="35661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62272" y="36941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PERIMETER. Vitesse 3u/tick. Controle foule &amp; perimetre.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0358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229600" y="3035808"/>
            <a:ext cx="3657600" cy="5029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94192" y="3145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BIOHAZARD CU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3127248"/>
            <a:ext cx="658368" cy="32004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064240" y="31272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94192" y="35661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94192" y="36941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HAZMAT. Vitesse 2u/tick. Confinement matières dangereuses.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8646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65760" y="4864608"/>
            <a:ext cx="36576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" y="4974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MED COORD.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4956048"/>
            <a:ext cx="658368" cy="3200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0" y="49560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53949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55229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Gestion capacite hopitaux. Allocation lits. Transferts patients.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48646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297680" y="4864608"/>
            <a:ext cx="365760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62272" y="4974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TRAFFIC CTRL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4956048"/>
            <a:ext cx="658368" cy="32004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32320" y="49560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62272" y="53949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62272" y="55229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Optimisation routes urgence. Corridors prioritaires GPS.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4864608"/>
            <a:ext cx="3657600" cy="160020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229600" y="4864608"/>
            <a:ext cx="365760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94192" y="4974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LOGGER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64240" y="4956048"/>
            <a:ext cx="658368" cy="32004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064240" y="495604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E1A"/>
                </a:solidFill>
                <a:latin typeface="Segoe UI"/>
              </a:rP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94192" y="5394960"/>
            <a:ext cx="329184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94192" y="552297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Segoe UI"/>
              </a:rPr>
              <a:t>Audit complet. Rapports JSON. KPI: temps reponse, incidents.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00FF"/>
                </a:solidFill>
                <a:latin typeface="Segoe UI"/>
              </a:rPr>
              <a:t>05  COMMUNICATION &amp; PROTOCOLES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FIPA-ACL  |  Contract Net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6400800" cy="36576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2395" y="1207008"/>
            <a:ext cx="1828800" cy="14813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2395" y="1207008"/>
            <a:ext cx="182880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27148" y="1261872"/>
            <a:ext cx="320040" cy="32004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2714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E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" y="162763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INCIDENT
DETECTE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7" y="2286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88AA"/>
                </a:solidFill>
                <a:latin typeface="Segoe UI"/>
              </a:rPr>
              <a:t>Sensor→Dispatcher
INFORM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1196" y="1938528"/>
            <a:ext cx="320040" cy="3657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48940" y="1874519"/>
            <a:ext cx="36576" cy="1645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31236" y="1207008"/>
            <a:ext cx="1828800" cy="14813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31236" y="1207008"/>
            <a:ext cx="182880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75988" y="1261872"/>
            <a:ext cx="320040" cy="32004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598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E1A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0964" y="162763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CFP
ENVOYE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4388" y="2286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88AA"/>
                </a:solidFill>
                <a:latin typeface="Segoe UI"/>
              </a:rPr>
              <a:t>Dispatcher→Units
CALL FOR PROP.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36" y="1938528"/>
            <a:ext cx="32004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97780" y="1874519"/>
            <a:ext cx="36576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80076" y="1207008"/>
            <a:ext cx="1828800" cy="14813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80076" y="1207008"/>
            <a:ext cx="18288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24828" y="1261872"/>
            <a:ext cx="320040" cy="3200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482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E1A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9804" y="162763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PROPOSE
RECU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3228" y="2286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88AA"/>
                </a:solidFill>
                <a:latin typeface="Segoe UI"/>
              </a:rPr>
              <a:t>Units→Dispatcher
SCORE + DETAILS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08876" y="1938528"/>
            <a:ext cx="320040" cy="3657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46620" y="1874519"/>
            <a:ext cx="36576" cy="1645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28916" y="1207008"/>
            <a:ext cx="1828800" cy="14813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28916" y="1207008"/>
            <a:ext cx="182880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73668" y="1261872"/>
            <a:ext cx="320040" cy="32004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366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E1A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8644" y="162763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ACCEPT /
REJECT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2068" y="2286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88AA"/>
                </a:solidFill>
                <a:latin typeface="Segoe UI"/>
              </a:rPr>
              <a:t>Best Unit
ACCEPT-PROPOSAL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7716" y="1938528"/>
            <a:ext cx="32004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95460" y="1874519"/>
            <a:ext cx="36576" cy="1645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477756" y="1207008"/>
            <a:ext cx="1828800" cy="14813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77756" y="1207008"/>
            <a:ext cx="182880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922508" y="1261872"/>
            <a:ext cx="320040" cy="3200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2250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E1A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7484" y="162763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MISSION
TERMINEE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0908" y="2286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88AA"/>
                </a:solidFill>
                <a:latin typeface="Segoe UI"/>
              </a:rPr>
              <a:t>Unit→Dispatcher
INFORM DONE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852928"/>
            <a:ext cx="11247120" cy="96012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2852928"/>
            <a:ext cx="1124712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2852928"/>
            <a:ext cx="2194560" cy="34747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28712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E1A"/>
                </a:solidFill>
                <a:latin typeface="Segoe UI"/>
              </a:rPr>
              <a:t>FONCTION D'UTILITE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3291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U(unit)  =  0.35 x ProxScore  +  0.25 x TypeMatch  +  0.20 x StatusScore  +  0.20 x SeverityScore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703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8AA"/>
                </a:solidFill>
                <a:latin typeface="Segoe UI"/>
              </a:rPr>
              <a:t>L'unite avec le score MAX est selectionnee  |  Distance euclidienne sur grille 100x100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041648"/>
            <a:ext cx="5303520" cy="2487168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041648"/>
            <a:ext cx="530352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57200" y="4041648"/>
            <a:ext cx="2011680" cy="2926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2064" y="405993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E1A"/>
                </a:solidFill>
                <a:latin typeface="Segoe UI"/>
              </a:rPr>
              <a:t>MESSAGE FIPA-ACL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4407408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:performative   PROPOSE</a:t>
            </a:r>
          </a:p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:sender         ambulance-agent-1</a:t>
            </a:r>
          </a:p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:receiver       dispatcher-agent</a:t>
            </a:r>
          </a:p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:content        { score:0.82, dist:12.5, type:MEDICAL }</a:t>
            </a:r>
          </a:p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:ontology       emergency-response-ontology</a:t>
            </a:r>
          </a:p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:language       FIPA-SL</a:t>
            </a:r>
          </a:p>
          <a:p>
            <a:pPr algn="l"/>
            <a:r>
              <a:rPr sz="1000" b="0">
                <a:solidFill>
                  <a:srgbClr val="00FFA3"/>
                </a:solidFill>
                <a:latin typeface="Segoe UI"/>
              </a:rPr>
              <a:t>:conversation-id  INC-20260429-001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041648"/>
            <a:ext cx="5577840" cy="24871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26480" y="4041648"/>
            <a:ext cx="5577840" cy="3657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6364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5FF"/>
                </a:solidFill>
                <a:latin typeface="Segoe UI"/>
              </a:rPr>
              <a:t>STANDARDS &amp; PROTOCOLES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462272"/>
            <a:ext cx="53035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63640" y="4572000"/>
            <a:ext cx="36576" cy="25603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46520" y="4581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Contract Net Protocol (FIPA)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458114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Negociation distribuee multi-agents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4956048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46520" y="4965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FIPA-ACL Messaging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496519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Communication formelle structuree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5340096"/>
            <a:ext cx="36576" cy="25603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46520" y="5349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XML Ontologie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35440" y="534924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Semantique partagee inter-agents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5724144"/>
            <a:ext cx="36576" cy="25603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46520" y="57332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FSM Behaviours JADE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57332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Automate d'etat fini par agent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6108192"/>
            <a:ext cx="36576" cy="256032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46520" y="61173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Hierarchical Dispatcher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0" y="611733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8AA"/>
                </a:solidFill>
                <a:latin typeface="Segoe UI"/>
              </a:rPr>
              <a:t>Architecture centralisee optimisee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00"/>
                </a:solidFill>
                <a:latin typeface="Segoe UI"/>
              </a:rPr>
              <a:t>06  SCENARIOS &amp; RESULTATS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Simulation &amp; Metriques de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36576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07008"/>
            <a:ext cx="3611880" cy="301752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3611880" cy="502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80" y="12801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3555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Segoe UI"/>
              </a:rPr>
              <a:t>Incidents Multi-Types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1883664"/>
            <a:ext cx="3246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8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Declenchement FIRE + MEDICAL + BIOHAZARD simultanement.</a:t>
            </a:r>
          </a:p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Selection correcte du type d'unite via U(unit).</a:t>
            </a:r>
          </a:p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Verification temps reponse &amp; matching de type.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207008"/>
            <a:ext cx="3611880" cy="301752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5112" y="1207008"/>
            <a:ext cx="3611880" cy="502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2801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3555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5FF"/>
                </a:solidFill>
                <a:latin typeface="Segoe UI"/>
              </a:rPr>
              <a:t>Incidents Simultanees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9704" y="1883664"/>
            <a:ext cx="3246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2029968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9 incidents generes en parallele (3 par Sensor).</a:t>
            </a:r>
          </a:p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Traitement parallele sans deadlock ni blocage.</a:t>
            </a:r>
          </a:p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Deploiement simultane de plusieurs unites.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207008"/>
            <a:ext cx="3611880" cy="301752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38744" y="1207008"/>
            <a:ext cx="3611880" cy="50292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24744" y="12801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3555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C00"/>
                </a:solidFill>
                <a:latin typeface="Segoe UI"/>
              </a:rPr>
              <a:t>Panne de Ressource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3336" y="1883664"/>
            <a:ext cx="3246120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03336" y="2029968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Depletion eau camion → message ABORT automatique.</a:t>
            </a:r>
          </a:p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Reassignation vers unite disponible en &lt; 1s.</a:t>
            </a:r>
          </a:p>
          <a:p>
            <a:pPr algn="l"/>
            <a:r>
              <a:rPr sz="1050" b="0">
                <a:solidFill>
                  <a:srgbClr val="B0C8E0"/>
                </a:solidFill>
                <a:latin typeface="Segoe UI"/>
              </a:rPr>
              <a:t>Test robustesse et recuperation systeme.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370832"/>
            <a:ext cx="11338560" cy="45720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4370832"/>
            <a:ext cx="11338560" cy="3200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434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A3"/>
                </a:solidFill>
                <a:latin typeface="Segoe UI"/>
              </a:rPr>
              <a:t>{ "status":"COMPLETED", "assignedUnit":"FireTruck-1", "responseTime":45.2, "severity":8, "type":"FIRE" 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83480"/>
            <a:ext cx="1816608" cy="15727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4983480"/>
            <a:ext cx="1816608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102352"/>
            <a:ext cx="1615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A3"/>
                </a:solidFill>
                <a:latin typeface="Segoe UI"/>
              </a:rPr>
              <a:t>&lt; 5s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5669280"/>
            <a:ext cx="1633728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742432"/>
            <a:ext cx="170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Demarrage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01240" y="4983480"/>
            <a:ext cx="1816608" cy="15727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01240" y="4983480"/>
            <a:ext cx="1816608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38400" y="5102352"/>
            <a:ext cx="1615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5FF"/>
                </a:solidFill>
                <a:latin typeface="Segoe UI"/>
              </a:rPr>
              <a:t>100-500ms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10968" y="5669280"/>
            <a:ext cx="1633728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92680" y="5742432"/>
            <a:ext cx="170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Decision Dispatch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1000" y="4983480"/>
            <a:ext cx="1816608" cy="15727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91000" y="4983480"/>
            <a:ext cx="1816608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8160" y="5102352"/>
            <a:ext cx="1615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5C00"/>
                </a:solidFill>
                <a:latin typeface="Segoe UI"/>
              </a:rPr>
              <a:t>45-60s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0728" y="5669280"/>
            <a:ext cx="1633728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82440" y="5742432"/>
            <a:ext cx="170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Temps Reponse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983480"/>
            <a:ext cx="1816608" cy="15727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080760" y="4983480"/>
            <a:ext cx="1816608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0" y="5102352"/>
            <a:ext cx="1615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A3"/>
                </a:solidFill>
                <a:latin typeface="Segoe UI"/>
              </a:rPr>
              <a:t>3-5/min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0488" y="5669280"/>
            <a:ext cx="1633728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72200" y="5742432"/>
            <a:ext cx="170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Incidents/min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70520" y="4983480"/>
            <a:ext cx="1816608" cy="15727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970520" y="4983480"/>
            <a:ext cx="1816608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07680" y="5102352"/>
            <a:ext cx="1615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5FF"/>
                </a:solidFill>
                <a:latin typeface="Segoe UI"/>
              </a:rPr>
              <a:t>~100 MB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0247" y="5669280"/>
            <a:ext cx="1633728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61960" y="5742432"/>
            <a:ext cx="170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Memoire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60280" y="4983480"/>
            <a:ext cx="1816608" cy="15727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860280" y="4983480"/>
            <a:ext cx="1816608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997440" y="5102352"/>
            <a:ext cx="1615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A3"/>
                </a:solidFill>
                <a:latin typeface="Segoe U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70008" y="5669280"/>
            <a:ext cx="1633728" cy="228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51720" y="5742432"/>
            <a:ext cx="170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Deadlocks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45720"/>
            <a:ext cx="3776472" cy="6766560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0" y="45720"/>
            <a:ext cx="36576" cy="676656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A3"/>
                </a:solidFill>
                <a:latin typeface="Segoe UI"/>
              </a:rPr>
              <a:t>07 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Bilan &amp;
Perspectives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4572000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  <a:latin typeface="Segoe UI"/>
              </a:rPr>
              <a:t>Ce qui a ete realise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7772400" cy="53035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45720" cy="5303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37744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Segoe UI"/>
              </a:rPr>
              <a:t>9 agents autonomes avec comportements FSM complets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7772400" cy="53035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45720" cy="5303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01752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Segoe UI"/>
              </a:rPr>
              <a:t>Protocole Contract Net FIPA de bout en bout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7772400" cy="53035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45720" cy="5303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65760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Segoe UI"/>
              </a:rPr>
              <a:t>Fonction d'utilite multi-criteres (4 poids)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7772400" cy="53035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45720" cy="5303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297679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Segoe UI"/>
              </a:rPr>
              <a:t>Gestion robuste des pannes + reassignation auto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7772400" cy="53035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45720" cy="5303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937759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Segoe UI"/>
              </a:rPr>
              <a:t>Rapports JSON complets avec metriques 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86400"/>
            <a:ext cx="7772400" cy="530352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45720" cy="5303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57784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Segoe UI"/>
              </a:rPr>
              <a:t>Zero deadlock sur tous les scenarios de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28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88AA"/>
                </a:solidFill>
                <a:latin typeface="Segoe UI"/>
              </a:rPr>
              <a:t>EN CHIFFRES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640080"/>
            <a:ext cx="1536192" cy="10241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41080" y="640080"/>
            <a:ext cx="153619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50807" y="731519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A3"/>
                </a:solidFill>
                <a:latin typeface="Segoe U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7" y="12618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Agents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640080"/>
            <a:ext cx="1536192" cy="10241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378440" y="640080"/>
            <a:ext cx="1536192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88167" y="731519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5F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8167" y="12618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Scenarios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1080" y="1874519"/>
            <a:ext cx="1536192" cy="10241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41080" y="1874519"/>
            <a:ext cx="1536192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50807" y="19659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A3"/>
                </a:solidFill>
                <a:latin typeface="Segoe U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0807" y="24963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Deadlocks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1874519"/>
            <a:ext cx="1536192" cy="102412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378440" y="1874519"/>
            <a:ext cx="1536192" cy="4572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88167" y="19659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5C00"/>
                </a:solidFill>
                <a:latin typeface="Segoe UI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7" y="24963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0"/>
                </a:solidFill>
                <a:latin typeface="Segoe UI"/>
              </a:rPr>
              <a:t>FIPA-ACL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49640" y="2907792"/>
            <a:ext cx="3383280" cy="27432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4108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88AA"/>
                </a:solidFill>
                <a:latin typeface="Segoe UI"/>
              </a:rPr>
              <a:t>PERSPECTIVES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3429000"/>
            <a:ext cx="3383280" cy="6583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549640" y="3429000"/>
            <a:ext cx="45720" cy="658368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32520" y="3483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5FF"/>
                </a:solidFill>
                <a:latin typeface="Segoe UI"/>
              </a:rPr>
              <a:t>Dashboard Web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37764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Segoe UI"/>
              </a:rPr>
              <a:t>Interface temps reel &amp; carte interactive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4233672"/>
            <a:ext cx="3383280" cy="6583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549640" y="4233672"/>
            <a:ext cx="45720" cy="658368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2520" y="42885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00"/>
                </a:solidFill>
                <a:latin typeface="Segoe UI"/>
              </a:rPr>
              <a:t>ML Optimization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5811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Segoe UI"/>
              </a:rPr>
              <a:t>Apprentissage poids fonction d'utilite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5038344"/>
            <a:ext cx="3383280" cy="6583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549640" y="5038344"/>
            <a:ext cx="45720" cy="65836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32520" y="509320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A3"/>
                </a:solidFill>
                <a:latin typeface="Segoe UI"/>
              </a:rPr>
              <a:t>Multi-Dispatcher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53858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Segoe UI"/>
              </a:rPr>
              <a:t>Coordination hierarchique inter-villes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5843016"/>
            <a:ext cx="3383280" cy="658368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549640" y="5843016"/>
            <a:ext cx="45720" cy="658368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32520" y="5897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00FF"/>
                </a:solidFill>
                <a:latin typeface="Segoe UI"/>
              </a:rPr>
              <a:t>Predictive 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61904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Segoe UI"/>
              </a:rPr>
              <a:t>Anticipation incidents via historique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0" y="6492240"/>
            <a:ext cx="12188952" cy="3200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Merci pour votre attention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65288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F5FF"/>
                </a:solidFill>
                <a:latin typeface="Segoe UI"/>
              </a:rPr>
              <a:t>Sara Arkoub  |  UMBB M1 Genie Logiciel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1061</Words>
  <Application>Microsoft Office PowerPoint</Application>
  <PresentationFormat>Custom</PresentationFormat>
  <Paragraphs>238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arkk</cp:lastModifiedBy>
  <cp:revision>2</cp:revision>
  <dcterms:created xsi:type="dcterms:W3CDTF">2013-01-27T09:14:16Z</dcterms:created>
  <dcterms:modified xsi:type="dcterms:W3CDTF">2026-05-05T09:51:00Z</dcterms:modified>
  <cp:category/>
</cp:coreProperties>
</file>