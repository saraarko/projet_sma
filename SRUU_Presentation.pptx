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868680"/>
            <a:ext cx="5120640" cy="5120640"/>
          </a:xfrm>
          <a:prstGeom prst="ellipse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19" y="914399"/>
            <a:ext cx="3291840" cy="3291840"/>
          </a:xfrm>
          <a:prstGeom prst="ellipse">
            <a:avLst/>
          </a:prstGeom>
          <a:solidFill>
            <a:srgbClr val="009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66960" y="3474720"/>
            <a:ext cx="1828800" cy="1828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0" y="4572000"/>
            <a:ext cx="914400" cy="9144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73152" cy="3657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Segoe UI"/>
              </a:rPr>
              <a:t>PROJET SMA • UMBB M1 GÉNIE LOGICIEL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Segoe UI"/>
              </a:rPr>
              <a:t>SRUU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B4D8"/>
                </a:solidFill>
                <a:latin typeface="Segoe UI"/>
              </a:rPr>
              <a:t>Système de Réponse aux Urgences Urbaines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0C4FF"/>
                </a:solidFill>
                <a:latin typeface="Segoe UI"/>
              </a:rPr>
              <a:t>Urban Emergency Response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11880"/>
            <a:ext cx="50292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E"/>
                </a:solidFill>
                <a:latin typeface="Segoe UI"/>
              </a:rPr>
              <a:t>Système Multi-Agent avec JADE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A8C3"/>
                </a:solidFill>
                <a:latin typeface="Segoe UI"/>
              </a:rPr>
              <a:t>9 Agents Autonomes  •  Protocole Contract Net  •  Ontologie FIPA-ACL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90B0"/>
                </a:solidFill>
                <a:latin typeface="Segoe UI"/>
              </a:rPr>
              <a:t>Sara Arkoub  |  2025–2026</a:t>
            </a:r>
          </a:p>
        </p:txBody>
      </p:sp>
      <p:sp>
        <p:nvSpPr>
          <p:cNvPr id="18" name="Oval 17"/>
          <p:cNvSpPr/>
          <p:nvPr/>
        </p:nvSpPr>
        <p:spPr>
          <a:xfrm>
            <a:off x="1024128" y="5230368"/>
            <a:ext cx="694944" cy="694944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230368"/>
            <a:ext cx="694944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🚑</a:t>
            </a:r>
          </a:p>
        </p:txBody>
      </p:sp>
      <p:sp>
        <p:nvSpPr>
          <p:cNvPr id="20" name="Oval 19"/>
          <p:cNvSpPr/>
          <p:nvPr/>
        </p:nvSpPr>
        <p:spPr>
          <a:xfrm>
            <a:off x="2395728" y="5230368"/>
            <a:ext cx="694944" cy="69494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95728" y="5230368"/>
            <a:ext cx="694944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🚒</a:t>
            </a:r>
          </a:p>
        </p:txBody>
      </p:sp>
      <p:sp>
        <p:nvSpPr>
          <p:cNvPr id="22" name="Oval 21"/>
          <p:cNvSpPr/>
          <p:nvPr/>
        </p:nvSpPr>
        <p:spPr>
          <a:xfrm>
            <a:off x="3767328" y="5230368"/>
            <a:ext cx="694944" cy="694944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7328" y="5230368"/>
            <a:ext cx="694944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"/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Plan de la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2004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146304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447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55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0"/>
                </a:solidFill>
                <a:latin typeface="Segoe UI"/>
              </a:rPr>
              <a:t>Contexte et objectifs du projet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256032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560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542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Problématique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52927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0"/>
                </a:solidFill>
                <a:latin typeface="Segoe UI"/>
              </a:rPr>
              <a:t>Défis de la gestion des urgences urbaines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365760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393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Solution Proposée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50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0"/>
                </a:solidFill>
                <a:latin typeface="Segoe UI"/>
              </a:rPr>
              <a:t>Architecture multi-agent SRUU</a:t>
            </a:r>
          </a:p>
        </p:txBody>
      </p:sp>
      <p:sp>
        <p:nvSpPr>
          <p:cNvPr id="20" name="Oval 19"/>
          <p:cNvSpPr/>
          <p:nvPr/>
        </p:nvSpPr>
        <p:spPr>
          <a:xfrm>
            <a:off x="365760" y="4754879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7548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7365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Les Agents du Système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0"/>
                </a:solidFill>
                <a:latin typeface="Segoe UI"/>
              </a:rPr>
              <a:t>9 types d'agents autonomes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146304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4447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Communication &amp; Protocoles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755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0"/>
                </a:solidFill>
                <a:latin typeface="Segoe UI"/>
              </a:rPr>
              <a:t>FIPA-ACL, Contract Net, Ontologie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0" y="256032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560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542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Scénarios &amp; Résultats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852927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0"/>
                </a:solidFill>
                <a:latin typeface="Segoe UI"/>
              </a:rPr>
              <a:t>Simulation et métriques de performance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365760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657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6393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Conclusion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950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4D0"/>
                </a:solidFill>
                <a:latin typeface="Segoe UI"/>
              </a:rPr>
              <a:t>Bilan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4114800" cy="6803136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864"/>
            <a:ext cx="64008" cy="680313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205040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Segoe UI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280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Contexte
du Projet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60320"/>
            <a:ext cx="3474720" cy="100584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560320"/>
            <a:ext cx="45720" cy="10058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D6A0"/>
                </a:solidFill>
                <a:latin typeface="Segoe U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743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Agents
autonomes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79"/>
            <a:ext cx="3474720" cy="100584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840479"/>
            <a:ext cx="45720" cy="10058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3191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D6A0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2335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Types
d'incidents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20640"/>
            <a:ext cx="3474720" cy="100584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120640"/>
            <a:ext cx="45720" cy="10058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21207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D6A0"/>
                </a:solidFill>
                <a:latin typeface="Segoe UI"/>
              </a:rPr>
              <a:t>JADE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Framework
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74320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Qu'est-ce que le SRUU 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804672"/>
            <a:ext cx="740664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960120"/>
            <a:ext cx="7406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Segoe UI"/>
              </a:rPr>
              <a:t>Le Système de Réponse aux Urgences Urbaines (SRUU) est une</a:t>
            </a:r>
          </a:p>
          <a:p>
            <a:pPr algn="l"/>
            <a:r>
              <a:rPr sz="1300" b="0">
                <a:solidFill>
                  <a:srgbClr val="E8F0FE"/>
                </a:solidFill>
                <a:latin typeface="Segoe UI"/>
              </a:rPr>
              <a:t>simulation intelligente de coordination d'urgences utilisant</a:t>
            </a:r>
          </a:p>
          <a:p>
            <a:pPr algn="l"/>
            <a:r>
              <a:rPr sz="1300" b="0">
                <a:solidFill>
                  <a:srgbClr val="E8F0FE"/>
                </a:solidFill>
                <a:latin typeface="Segoe UI"/>
              </a:rPr>
              <a:t>les Systèmes Multi-Agents (SMA).</a:t>
            </a:r>
          </a:p>
          <a:p>
            <a:pPr algn="l"/>
            <a:r>
              <a:rPr sz="1300" b="0">
                <a:solidFill>
                  <a:srgbClr val="E8F0FE"/>
                </a:solidFill>
                <a:latin typeface="Segoe UI"/>
              </a:rPr>
              <a:t/>
            </a:r>
          </a:p>
          <a:p>
            <a:pPr algn="l"/>
            <a:r>
              <a:rPr sz="1300" b="0">
                <a:solidFill>
                  <a:srgbClr val="E8F0FE"/>
                </a:solidFill>
                <a:latin typeface="Segoe UI"/>
              </a:rPr>
              <a:t>Développé avec le framework JADE (Java Agent Development</a:t>
            </a:r>
          </a:p>
          <a:p>
            <a:pPr algn="l"/>
            <a:r>
              <a:rPr sz="1300" b="0">
                <a:solidFill>
                  <a:srgbClr val="E8F0FE"/>
                </a:solidFill>
                <a:latin typeface="Segoe UI"/>
              </a:rPr>
              <a:t>Framework), il orchestre 9 agents autonomes qui collaborent</a:t>
            </a:r>
          </a:p>
          <a:p>
            <a:pPr algn="l"/>
            <a:r>
              <a:rPr sz="1300" b="0">
                <a:solidFill>
                  <a:srgbClr val="E8F0FE"/>
                </a:solidFill>
                <a:latin typeface="Segoe UI"/>
              </a:rPr>
              <a:t>pour détecter, analyser et résoudre des incidents urbains.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108960"/>
            <a:ext cx="7315200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108960"/>
            <a:ext cx="45720" cy="9144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154679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Segoe UI"/>
              </a:rPr>
              <a:t>🏙️ Contexte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493008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Les villes modernes font face à des urgences complexes nécessitant une coordination rapide entre plusieurs services.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4206240"/>
            <a:ext cx="7315200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4206240"/>
            <a:ext cx="45720" cy="9144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251959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Segoe UI"/>
              </a:rPr>
              <a:t>🤖 Approche SMA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590288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Les systèmes multi-agents offrent une solution décentralisée, réactive et robuste pour la gestion des crises.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5303520"/>
            <a:ext cx="7315200" cy="9144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5303520"/>
            <a:ext cx="45720" cy="9144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534924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Segoe UI"/>
              </a:rPr>
              <a:t>🎯 Objectif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687568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Simuler une réponse coordonnée et optimale entre agents hétérogènes via le protocole Contract 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02 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Défis de la Gestion des Urgences Urbaines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73152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716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Segoe UI"/>
              </a:rPr>
              <a:t>Comment coordonner efficacement des ressources hétérogènes (ambulances, pompiers, police)
en temps réel, face à des incidents multiples et simultanés dans un environnement urbain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3657600" cy="16459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36576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⏱️  Temps Réel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971800"/>
            <a:ext cx="3383280" cy="1828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632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Chaque seconde compte — les décisions doivent être prises en &lt; 500 ms pour éviter la dégradation de la situation.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468880"/>
            <a:ext cx="3657600" cy="16459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468880"/>
            <a:ext cx="3657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🔀  Coordination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971800"/>
            <a:ext cx="3383280" cy="1828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0632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Multiples unités de types différents doivent collaborer sans conflit ni chevauchement de ressources.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468880"/>
            <a:ext cx="3657600" cy="16459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468880"/>
            <a:ext cx="365760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📍  Localisation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971800"/>
            <a:ext cx="3383280" cy="1828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0632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Assigner l'unité la PLUS PROCHE et la PLUS ADAPTÉE parmi N candidats distribués géographiquement.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3657600" cy="16459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36576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526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💧  Pannes &amp; Ressources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892040"/>
            <a:ext cx="3383280" cy="1828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9834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Gestion des défaillances : camion à court d'eau, unité indisponible → réaffectation automatique nécessaire.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4389120"/>
            <a:ext cx="3657600" cy="16459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4389120"/>
            <a:ext cx="3657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526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📡  Communication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892040"/>
            <a:ext cx="3383280" cy="1828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49834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Les agents doivent s'échanger des informations structurées (FIPA-ACL) de manière fiable et sans deadlock.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389120"/>
            <a:ext cx="3657600" cy="16459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389120"/>
            <a:ext cx="365760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4526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📊  Décision Optimale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4892040"/>
            <a:ext cx="3383280" cy="1828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49834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Choisir la meilleure unité selon distance, type, statut et sévérité via une fonction d'utilité mathématique.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"/>
              </a:rPr>
              <a:t>03  SOLUTION PROPOSÉE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Architecture du Système SRUU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78992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47120" cy="10515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4712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35607"/>
            <a:ext cx="237744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35607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COUCHE PERCEPTION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39903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Sensor Agents (×3)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78308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Détectent les incidents urbains sur une grille 100×100 avec probabilité configurable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377440"/>
            <a:ext cx="54864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11247120" cy="10515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112471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761488"/>
            <a:ext cx="23774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6148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COUCHE DÉCISION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7249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Dispatcher Agent (×1)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1089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Évalue les propositions via fonction d'utilité → assigne l'unité optimale via Contract 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3703320"/>
            <a:ext cx="54864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77639"/>
            <a:ext cx="11247120" cy="10515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77639"/>
            <a:ext cx="112471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87368"/>
            <a:ext cx="237744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873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COUCHE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050791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Units : Ambulance ×2 | FireTruck ×2 | Police ×2 | Biohazard ×1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4348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Répondent aux incidents, se déplacent, gèrent leurs ressources, signalent les pannes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5029200"/>
            <a:ext cx="54864" cy="274320"/>
          </a:xfrm>
          <a:prstGeom prst="rect">
            <a:avLst/>
          </a:prstGeom>
          <a:solidFill>
            <a:srgbClr val="A06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303520"/>
            <a:ext cx="11247120" cy="10515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303520"/>
            <a:ext cx="11247120" cy="54864"/>
          </a:xfrm>
          <a:prstGeom prst="rect">
            <a:avLst/>
          </a:prstGeom>
          <a:solidFill>
            <a:srgbClr val="A06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413248"/>
            <a:ext cx="2377440" cy="320040"/>
          </a:xfrm>
          <a:prstGeom prst="rect">
            <a:avLst/>
          </a:prstGeom>
          <a:solidFill>
            <a:srgbClr val="A06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41324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COUCHE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37667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MedicalCoordinator + TrafficController + Logger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760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Gestion hospitalière, optimisation des routes, audit et rapports JSON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Segoe UI"/>
              </a:rPr>
              <a:t>Java 11+  •  JADE 4.5.0  •  Maven  •  FIPA-ACL  •  Ontologie XML  •  JSON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Segoe UI"/>
              </a:rPr>
              <a:t>04  LES AGENTS DU SYSTÈME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9 Types d'Agents Autonomes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78992"/>
            <a:ext cx="457200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657600" cy="15087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54864" cy="1508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150876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270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4630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Dispatcher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490472"/>
            <a:ext cx="59436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149047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×1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874519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E"/>
                </a:solidFill>
                <a:latin typeface="Segoe UI"/>
              </a:rPr>
              <a:t>Coordinateur central — Protocole Contract Net — Fonction d'utilité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325880"/>
            <a:ext cx="3657600" cy="15087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59" y="1325880"/>
            <a:ext cx="54864" cy="1508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1508760"/>
            <a:ext cx="640080" cy="64008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5270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59" y="14630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Sensor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1490472"/>
            <a:ext cx="594360" cy="25603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149047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×3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1874519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E"/>
                </a:solidFill>
                <a:latin typeface="Segoe UI"/>
              </a:rPr>
              <a:t>Détection incidents — Grille 100×100 — Probabilité 30%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1325880"/>
            <a:ext cx="3657600" cy="15087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1325880"/>
            <a:ext cx="54864" cy="1508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21040" y="1508760"/>
            <a:ext cx="640080" cy="64008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5270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14630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Ambulance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018519" y="1490472"/>
            <a:ext cx="594360" cy="25603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19" y="149047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×2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1874519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E"/>
                </a:solidFill>
                <a:latin typeface="Segoe UI"/>
              </a:rPr>
              <a:t>MEDICAL — Vitesse 2u/tick — Coordination hospitalière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063239"/>
            <a:ext cx="3657600" cy="15087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063239"/>
            <a:ext cx="54864" cy="1508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7200" y="324612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2644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320039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FireTruck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3227832"/>
            <a:ext cx="59436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54680" y="322783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×2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3611879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E"/>
                </a:solidFill>
                <a:latin typeface="Segoe UI"/>
              </a:rPr>
              <a:t>FIRE/BIOHAZARD — Vitesse 3u/tick — Gestion eau 100L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59" y="3063239"/>
            <a:ext cx="3657600" cy="15087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51959" y="3063239"/>
            <a:ext cx="54864" cy="1508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89120" y="324612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32644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59" y="320039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Police Unit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86600" y="3227832"/>
            <a:ext cx="59436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86600" y="322783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×2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59" y="3611879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E"/>
                </a:solidFill>
                <a:latin typeface="Segoe UI"/>
              </a:rPr>
              <a:t>PERIMETER — Vitesse 3u/tick — Contrôle de foule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83879" y="3063239"/>
            <a:ext cx="3657600" cy="15087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83879" y="3063239"/>
            <a:ext cx="54864" cy="1508760"/>
          </a:xfrm>
          <a:prstGeom prst="rect">
            <a:avLst/>
          </a:prstGeom>
          <a:solidFill>
            <a:srgbClr val="A06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321040" y="3246120"/>
            <a:ext cx="640080" cy="640080"/>
          </a:xfrm>
          <a:prstGeom prst="ellipse">
            <a:avLst/>
          </a:prstGeom>
          <a:solidFill>
            <a:srgbClr val="A06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32644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☣️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320039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Biohazard Unit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018519" y="3227832"/>
            <a:ext cx="594360" cy="256032"/>
          </a:xfrm>
          <a:prstGeom prst="rect">
            <a:avLst/>
          </a:prstGeom>
          <a:solidFill>
            <a:srgbClr val="A06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18519" y="322783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×1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98280" y="3611879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E"/>
                </a:solidFill>
                <a:latin typeface="Segoe UI"/>
              </a:rPr>
              <a:t>HAZMAT — Vitesse 2u/tick — Confinement spécialisé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800600"/>
            <a:ext cx="3657600" cy="15087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0040" y="4800600"/>
            <a:ext cx="54864" cy="1508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57200" y="4983480"/>
            <a:ext cx="640080" cy="64008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0017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34440" y="49377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Medical Coordinator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54680" y="4965192"/>
            <a:ext cx="594360" cy="25603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54680" y="496519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×1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34440" y="534924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E"/>
                </a:solidFill>
                <a:latin typeface="Segoe UI"/>
              </a:rPr>
              <a:t>Gestion hôpitaux — Capacité lits — Transferts patients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51959" y="4800600"/>
            <a:ext cx="3657600" cy="15087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51959" y="4800600"/>
            <a:ext cx="54864" cy="1508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389120" y="498348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9120" y="50017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66359" y="49377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Traffic Controller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86600" y="4965192"/>
            <a:ext cx="59436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86600" y="496519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×1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66359" y="534924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E"/>
                </a:solidFill>
                <a:latin typeface="Segoe UI"/>
              </a:rPr>
              <a:t>Optimisation routes — Corridors d'urgence — GPS temps réel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83879" y="4800600"/>
            <a:ext cx="3657600" cy="15087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183879" y="4800600"/>
            <a:ext cx="54864" cy="1508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321040" y="498348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21040" y="50017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98280" y="49377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Logger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18519" y="4965192"/>
            <a:ext cx="59436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018519" y="496519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×1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98280" y="534924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E"/>
                </a:solidFill>
                <a:latin typeface="Segoe UI"/>
              </a:rPr>
              <a:t>Audit complet — Rapports JSON — Métriques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"/>
              </a:rPr>
              <a:t>05  COMMUNICATION &amp; PROTOCOLES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FIPA-ACL • Contract Net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78992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" y="1371600"/>
            <a:ext cx="1828800" cy="13716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" y="137160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04188" y="1444752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4188" y="14447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" y="1920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INCIDENT
DÉTECTÉ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" y="2651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B4D0"/>
                </a:solidFill>
                <a:latin typeface="Segoe UI"/>
              </a:rPr>
              <a:t>Sensor → Dispatcher
INFORM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19756" y="1920240"/>
            <a:ext cx="3657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5516" y="1371600"/>
            <a:ext cx="1828800" cy="13716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5516" y="137160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98748" y="1444752"/>
            <a:ext cx="402336" cy="40233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98748" y="14447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6956" y="1920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CFP
ENVOYÉ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6956" y="2651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B4D0"/>
                </a:solidFill>
                <a:latin typeface="Segoe UI"/>
              </a:rPr>
              <a:t>Dispatcher → Units
CALL FOR PROPOSALS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14316" y="1920240"/>
            <a:ext cx="3657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0076" y="1371600"/>
            <a:ext cx="1828800" cy="13716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80076" y="1371600"/>
            <a:ext cx="182880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93308" y="1444752"/>
            <a:ext cx="402336" cy="402336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3308" y="14447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1516" y="1920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PROPOSE
REÇU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1516" y="2651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B4D0"/>
                </a:solidFill>
                <a:latin typeface="Segoe UI"/>
              </a:rPr>
              <a:t>Units → Dispatcher
PROPOSALS + Score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08875" y="1920240"/>
            <a:ext cx="3657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74636" y="1371600"/>
            <a:ext cx="1828800" cy="13716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74636" y="137160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87867" y="1444752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7867" y="14447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6075" y="1920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ACCEPT
/ REJECT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6075" y="2651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B4D0"/>
                </a:solidFill>
                <a:latin typeface="Segoe UI"/>
              </a:rPr>
              <a:t>Dispatcher → Best Unit
ACCEPT-PROPOSAL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3436" y="1920240"/>
            <a:ext cx="3657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69196" y="1371600"/>
            <a:ext cx="1828800" cy="13716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69196" y="1371600"/>
            <a:ext cx="182880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82428" y="1444752"/>
            <a:ext cx="402336" cy="402336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2428" y="14447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60636" y="1920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MISSION
ACCOMPLIE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60636" y="2651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B4D0"/>
                </a:solidFill>
                <a:latin typeface="Segoe UI"/>
              </a:rPr>
              <a:t>Unit → Dispatcher
INFORM DONE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383280"/>
            <a:ext cx="11247120" cy="13716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3383280"/>
            <a:ext cx="64008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456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Segoe UI"/>
              </a:rPr>
              <a:t>📐  Fonction d'Utilité du Dispatcher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38587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U(unit) = 0.35 × ProxScore  +  0.25 × TypeMatch  +  0.20 × StatusScore  +  0.20 × SeverityScore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297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L'unité avec le score U(unit) MAX est sélectionnée — Distance euclidienne normalisée sur grille 100×100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Structure Message FIPA-ACL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321808"/>
            <a:ext cx="5303520" cy="137160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376672"/>
            <a:ext cx="50292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6D6A0"/>
                </a:solidFill>
                <a:latin typeface="Segoe UI"/>
              </a:rPr>
              <a:t>:performative  PROPOSE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Segoe UI"/>
              </a:rPr>
              <a:t>:sender        unit-ambulance-1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Segoe UI"/>
              </a:rPr>
              <a:t>:receiver      dispatcher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Segoe UI"/>
              </a:rPr>
              <a:t>:content       { score: 0.82, distance: 12.5 }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Segoe UI"/>
              </a:rPr>
              <a:t>:ontology      emergency-response-ontology</a:t>
            </a:r>
          </a:p>
          <a:p>
            <a:pPr algn="l"/>
            <a:r>
              <a:rPr sz="1000" b="0">
                <a:solidFill>
                  <a:srgbClr val="06D6A0"/>
                </a:solidFill>
                <a:latin typeface="Segoe UI"/>
              </a:rPr>
              <a:t>:language      FIPA-SL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Protocoles &amp; Standards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321808"/>
            <a:ext cx="5303520" cy="29260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53583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▸ Contract Net Protocol (FIPA)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53583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Segoe UI"/>
              </a:rPr>
              <a:t>Négociation distribuée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5650992"/>
            <a:ext cx="5303520" cy="29260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56875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▸ FIPA-ACL Messaging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56875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Segoe UI"/>
              </a:rPr>
              <a:t>Communication structurée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5980176"/>
            <a:ext cx="5303520" cy="29260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60167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▸ XML Ontology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20" y="60167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Segoe UI"/>
              </a:rPr>
              <a:t>Sémantique partagée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6309360"/>
            <a:ext cx="5303520" cy="29260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63459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▸ FSM Behaviours (JADE)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20" y="63459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Segoe UI"/>
              </a:rPr>
              <a:t>Automate fini par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"/>
              </a:rPr>
              <a:t>06  SCÉNARIOS &amp; RÉSULTATS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Simulation &amp; Métriques de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78992"/>
            <a:ext cx="54864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7132320" cy="14173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64008" cy="1417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463039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Incidents Multi-Types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28800"/>
            <a:ext cx="6217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Déclenchement simultané de FIRE, MEDICAL et BIOHAZARD.
→ Sélection correcte du type d'unité via fonction d'utilité.
→ Vérification du temps de réponse et du matching de type.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7132320" cy="14173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64008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315468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54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0896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Incidents Simultanés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474720"/>
            <a:ext cx="6217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9 incidents générés en parallèle (3 par Sensor Agent).
→ Traitement parallèle sans deadlock ni blocage.
→ Déploiement simultané de plusieurs unités.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17720"/>
            <a:ext cx="7132320" cy="14173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617720"/>
            <a:ext cx="64008" cy="1417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" y="480060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800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75488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Panne de Ressource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120640"/>
            <a:ext cx="6217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Déplétion d'eau du camion → message ABORT envoyé.
→ Réaffectation automatique à une unité disponible.
→ Test de robustesse et récupération du système.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325880"/>
            <a:ext cx="3657600" cy="53035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1325880"/>
            <a:ext cx="365760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Segoe UI"/>
              </a:rPr>
              <a:t>📊 Performance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920240"/>
            <a:ext cx="3200400" cy="65836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920240"/>
            <a:ext cx="54864" cy="6583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19659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  <a:latin typeface="Segoe UI"/>
              </a:rPr>
              <a:t>&lt; 5s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2860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Démarrage système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697480"/>
            <a:ext cx="3200400" cy="65836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2697480"/>
            <a:ext cx="5486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2743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Segoe UI"/>
              </a:rPr>
              <a:t>100–500ms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063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Décision Dispatcher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474720"/>
            <a:ext cx="3200400" cy="65836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3474720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352043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Segoe UI"/>
              </a:rPr>
              <a:t>45–60s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8404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Temps réponse moyen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251960"/>
            <a:ext cx="3200400" cy="65836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4251960"/>
            <a:ext cx="54864" cy="6583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4297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  <a:latin typeface="Segoe UI"/>
              </a:rPr>
              <a:t>3–5/min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6177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Incidents traités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5029200"/>
            <a:ext cx="3200400" cy="65836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5029200"/>
            <a:ext cx="5486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50749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Segoe UI"/>
              </a:rPr>
              <a:t>~100 MB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53949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Mémoire utilisée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5806440"/>
            <a:ext cx="3200400" cy="658368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0" y="5806440"/>
            <a:ext cx="54864" cy="6583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585215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  <a:latin typeface="Segoe UI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61722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Deadlocks détectés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400800"/>
            <a:ext cx="7132320" cy="27432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641908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Segoe UI"/>
              </a:rPr>
              <a:t>{ "status": "COMPLETED", "assignedUnit": "FireTruck-1", "responseTime": 45.2s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2286000"/>
            <a:ext cx="2743200" cy="2743200"/>
          </a:xfrm>
          <a:prstGeom prst="ellipse">
            <a:avLst/>
          </a:prstGeom>
          <a:solidFill>
            <a:srgbClr val="009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0" y="5212080"/>
            <a:ext cx="1463040" cy="146304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Segoe UI"/>
              </a:rPr>
              <a:t>07 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Bilan &amp; Perspectives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457200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Segoe UI"/>
              </a:rPr>
              <a:t>✅  Ce qui a été réalisé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64208"/>
            <a:ext cx="6217920" cy="38404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664208"/>
            <a:ext cx="4572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71907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0FE"/>
                </a:solidFill>
                <a:latin typeface="Segoe UI"/>
              </a:rPr>
              <a:t>9 agents autonomes pleinement fonctionnels avec comportements FSM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39696"/>
            <a:ext cx="6217920" cy="38404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139696"/>
            <a:ext cx="4572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9456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0FE"/>
                </a:solidFill>
                <a:latin typeface="Segoe UI"/>
              </a:rPr>
              <a:t>Protocole Contract Net FIPA implémenté de bout en bout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15184"/>
            <a:ext cx="6217920" cy="38404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15184"/>
            <a:ext cx="4572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7004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0FE"/>
                </a:solidFill>
                <a:latin typeface="Segoe UI"/>
              </a:rPr>
              <a:t>Fonction d'utilité multi-critères pour la sélection optimale d'unités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90672"/>
            <a:ext cx="6217920" cy="38404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090672"/>
            <a:ext cx="4572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145536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0FE"/>
                </a:solidFill>
                <a:latin typeface="Segoe UI"/>
              </a:rPr>
              <a:t>Gestion robuste des pannes avec réaffectation automatique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66160"/>
            <a:ext cx="6217920" cy="38404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566160"/>
            <a:ext cx="4572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621024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0FE"/>
                </a:solidFill>
                <a:latin typeface="Segoe UI"/>
              </a:rPr>
              <a:t>Rapports JSON complets avec métriques de performance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41648"/>
            <a:ext cx="6217920" cy="384048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041648"/>
            <a:ext cx="4572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96511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0FE"/>
                </a:solidFill>
                <a:latin typeface="Segoe UI"/>
              </a:rPr>
              <a:t>Aucun deadlock sur les 3 scénarios de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Segoe UI"/>
              </a:rPr>
              <a:t>🚀  Perspectives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047488"/>
            <a:ext cx="3017520" cy="621792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8406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"/>
              </a:rPr>
              <a:t>Dashboard Web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35838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Interface temps réel avec carte interactive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59" y="5047488"/>
            <a:ext cx="3017520" cy="621792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04487" y="508406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"/>
              </a:rPr>
              <a:t>ML Optimization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04487" y="535838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Apprentissage des poids de la fonction d'utilité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797296"/>
            <a:ext cx="3017520" cy="621792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833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"/>
              </a:rPr>
              <a:t>Multi-Dispatcher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1081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Coordination hiérarchique inter-villes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59" y="5797296"/>
            <a:ext cx="3017520" cy="621792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04487" y="5833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"/>
              </a:rPr>
              <a:t>Predictive Modeling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4487" y="61081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Anticipation des incidents via données historiques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1234440"/>
            <a:ext cx="4572000" cy="53949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0" y="1234440"/>
            <a:ext cx="457200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1371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Segoe UI"/>
              </a:rPr>
              <a:t>En Résumé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1783080"/>
            <a:ext cx="4206240" cy="27432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0" y="192024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Segoe UI"/>
              </a:rPr>
              <a:t>Le projet SRUU démontre avec succès la puissance
des Systèmes Multi-Agents pour résoudre des
problèmes complexes de coordination en temps réel.
L'approche JADE + Contract Net + Ontologie FIPA
offre une architecture modulaire, extensible et
robuste, prête pour des applications réelles.
Ce projet pose les bases d'un système d'urgence
intelligent capable d'évoluer vers des solutions
à grande échelle intégrant l'IA prédictive.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5029200"/>
            <a:ext cx="960120" cy="82296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5065776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Segoe U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54864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F0FE"/>
                </a:solidFill>
                <a:latin typeface="Segoe UI"/>
              </a:rPr>
              <a:t>Agents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5029200"/>
            <a:ext cx="960120" cy="82296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5065776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Segoe U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54864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F0FE"/>
                </a:solidFill>
                <a:latin typeface="Segoe UI"/>
              </a:rPr>
              <a:t>Scénarios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5029200"/>
            <a:ext cx="960120" cy="82296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0" y="5065776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Segoe UI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54864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F0FE"/>
                </a:solidFill>
                <a:latin typeface="Segoe UI"/>
              </a:rPr>
              <a:t>Deadlocks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07040" y="5029200"/>
            <a:ext cx="960120" cy="82296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07040" y="5065776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Segoe UI"/>
              </a:rPr>
              <a:t>100%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07040" y="54864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F0FE"/>
                </a:solidFill>
                <a:latin typeface="Segoe UI"/>
              </a:rPr>
              <a:t>FIPA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Merci pour votre attention  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6400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  <a:latin typeface="Segoe UI"/>
              </a:rPr>
              <a:t>Sara Arkoub  •  UMBB M1 Génie Logiciel  • 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